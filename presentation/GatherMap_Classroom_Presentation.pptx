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864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5486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7864" y="5486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457200"/>
            <a:ext cx="43891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🔒 https://gathermap.app/session/EAT-2026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"/>
            <a:ext cx="5120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</a:defRPr>
            </a:pPr>
            <a:r>
              <a:t>GATHERMAP • INPUT &amp; COORDINATION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051560"/>
            <a:ext cx="4937760" cy="201168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 rIns="182880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👥 GROUP MEMBERS &amp; STARTING LOCATIONS (4 Members)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1353312"/>
            <a:ext cx="46634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950">
                <a:solidFill>
                  <a:srgbClr val="3B82F6"/>
                </a:solidFill>
              </a:rPr>
              <a:t>● An: </a:t>
            </a:r>
            <a:r>
              <a:rPr sz="850">
                <a:solidFill>
                  <a:srgbClr val="E2E8F0"/>
                </a:solidFill>
              </a:rPr>
              <a:t>📍 Landmark 81, Bình Thạnh  —  </a:t>
            </a:r>
            <a:r>
              <a:rPr sz="800" i="1">
                <a:solidFill>
                  <a:srgbClr val="94A3B8"/>
                </a:solidFill>
              </a:rPr>
              <a:t>🌱 Vegetarian / Vegan diet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1746504"/>
            <a:ext cx="46634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950">
                <a:solidFill>
                  <a:srgbClr val="10B981"/>
                </a:solidFill>
              </a:rPr>
              <a:t>● Bình: </a:t>
            </a:r>
            <a:r>
              <a:rPr sz="850">
                <a:solidFill>
                  <a:srgbClr val="E2E8F0"/>
                </a:solidFill>
              </a:rPr>
              <a:t>📍 UEH Campus B, Quận 10  —  </a:t>
            </a:r>
            <a:r>
              <a:rPr sz="800" i="1">
                <a:solidFill>
                  <a:srgbClr val="94A3B8"/>
                </a:solidFill>
              </a:rPr>
              <a:t>🍵 Wants matcha &amp; quiet corner for study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2139696"/>
            <a:ext cx="46634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950">
                <a:solidFill>
                  <a:srgbClr val="A855F7"/>
                </a:solidFill>
              </a:rPr>
              <a:t>● Chi: </a:t>
            </a:r>
            <a:r>
              <a:rPr sz="850">
                <a:solidFill>
                  <a:srgbClr val="E2E8F0"/>
                </a:solidFill>
              </a:rPr>
              <a:t>📍 Hồ Con Rùa, Quận 3  —  </a:t>
            </a:r>
            <a:r>
              <a:rPr sz="800" i="1">
                <a:solidFill>
                  <a:srgbClr val="94A3B8"/>
                </a:solidFill>
              </a:rPr>
              <a:t>📸 Loves photogenic aesthetic &amp; cafe space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532888"/>
            <a:ext cx="4663440" cy="347472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950">
                <a:solidFill>
                  <a:srgbClr val="F59E0B"/>
                </a:solidFill>
              </a:rPr>
              <a:t>● Dũng: </a:t>
            </a:r>
            <a:r>
              <a:rPr sz="850">
                <a:solidFill>
                  <a:srgbClr val="E2E8F0"/>
                </a:solidFill>
              </a:rPr>
              <a:t>📍 Vạn Hạnh Mall, Quận 10  —  </a:t>
            </a:r>
            <a:r>
              <a:rPr sz="800" i="1">
                <a:solidFill>
                  <a:srgbClr val="94A3B8"/>
                </a:solidFill>
              </a:rPr>
              <a:t>💰 Budget strictly under 80,000 VND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182112"/>
            <a:ext cx="4937760" cy="1783080"/>
          </a:xfrm>
          <a:prstGeom prst="roundRect">
            <a:avLst/>
          </a:prstGeom>
          <a:solidFill>
            <a:srgbClr val="1A22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 rIns="182880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✨ REPRESENTATIVE'S WISHES &amp; GROUP DISCUSSION BOX</a:t>
            </a:r>
          </a:p>
          <a:p>
            <a:pPr>
              <a:spcAft>
                <a:spcPts val="600"/>
              </a:spcAft>
              <a:defRPr sz="850">
                <a:solidFill>
                  <a:srgbClr val="94A3B8"/>
                </a:solidFill>
              </a:defRPr>
            </a:pPr>
            <a:r>
              <a:t>Paste freestyle Zalo/Mess chat or type group preferences. Gemini LLM parses criteria automatically: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703320"/>
            <a:ext cx="4663440" cy="1143000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91440" rIns="137160"/>
          <a:lstStyle/>
          <a:p>
            <a:pPr algn="ctr">
              <a:defRPr sz="950" i="1">
                <a:solidFill>
                  <a:srgbClr val="E0E7FF"/>
                </a:solidFill>
              </a:defRPr>
            </a:pPr>
            <a:r>
              <a:t>"An hôm nay ăn chay nha mn. Bình cần chỗ yên tĩnh có matcha để ôn thi cuối kỳ. Chi thích quán decor đẹp chụp hình check-in, còn Dũng thì budget dưới 80k/người thui. Kiếm quán nào công bằng ở giữa nha!"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074920"/>
            <a:ext cx="2377440" cy="59436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00" b="1">
                <a:solidFill>
                  <a:srgbClr val="94A3B8"/>
                </a:solidFill>
              </a:defRPr>
            </a:pPr>
            <a:r>
              <a:t>SEARCH RADIUS (DISCOVERY)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1km   |   2km   |  [ 3km • Selected ]  |   5km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074920"/>
            <a:ext cx="246888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🚀 LET'S GO! (ANALYZE WITH AI)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051560"/>
            <a:ext cx="5394960" cy="5257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0" y="1188720"/>
            <a:ext cx="50292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🗺️ INTERACTIVE MAP: REAL COORDINATES &amp; WEISZFELD CENTER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2103120"/>
            <a:ext cx="3840480" cy="3383280"/>
          </a:xfrm>
          <a:prstGeom prst="ellipse">
            <a:avLst/>
          </a:prstGeom>
          <a:noFill/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0" y="3520440"/>
            <a:ext cx="548640" cy="54864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89520" y="4160520"/>
            <a:ext cx="2194560" cy="685800"/>
          </a:xfrm>
          <a:prstGeom prst="roundRect">
            <a:avLst/>
          </a:prstGeom>
          <a:solidFill>
            <a:srgbClr val="0B0F1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🎯 WEISZFELD GEOMETRIC MEDIAN</a:t>
            </a:r>
          </a:p>
          <a:p>
            <a:pPr>
              <a:defRPr sz="750">
                <a:solidFill>
                  <a:srgbClr val="E2E8F0"/>
                </a:solidFill>
              </a:defRPr>
            </a:pPr>
            <a:r>
              <a:t>District 10 (10.7769° N, 106.6780° E)</a:t>
            </a:r>
            <a:br/>
            <a:r>
              <a:t>Equal total travel • Outlier-resistant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1920240"/>
            <a:ext cx="123444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An (Landmark 81)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➔ 3.8 km travel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297680"/>
            <a:ext cx="123444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Bình (UEH B, Q10)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➔ 1.2 km travel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1920240"/>
            <a:ext cx="123444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A855F7"/>
                </a:solidFill>
              </a:defRPr>
            </a:pPr>
            <a:r>
              <a:t>Chi (Hồ Con Rùa)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➔ 2.1 km travel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2926080"/>
            <a:ext cx="1234440" cy="502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Dũng (Vạn Hạnh Mall)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➔ 1.4 km travel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5715000"/>
            <a:ext cx="5029200" cy="457200"/>
          </a:xfrm>
          <a:prstGeom prst="roundRect">
            <a:avLst/>
          </a:prstGeom>
          <a:solidFill>
            <a:srgbClr val="141B2D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850">
                <a:solidFill>
                  <a:srgbClr val="FEF3C7"/>
                </a:solidFill>
              </a:defRPr>
            </a:pPr>
            <a:r>
              <a:t>💡 Mathematical Edge: Eliminates center-drift caused by extreme outliers (unlike centroid average).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AI REASONING CORE • GOOGLE GEMINI 3.8 FLASH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How AI Transforms Chaotic Chat Messages into Structured Decision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 rIns="201168"/>
          <a:lstStyle/>
          <a:p>
            <a:pPr algn="ctr">
              <a:defRPr sz="950" b="1">
                <a:solidFill>
                  <a:srgbClr val="3B82F6"/>
                </a:solidFill>
              </a:defRPr>
            </a:pPr>
            <a:r>
              <a:t>STEP 1: UNSTRUCTURED INPUT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Chaotic Group Chat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240280"/>
            <a:ext cx="31546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rIns="109728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An (10:15 AM)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Ê trưa nay đi đâu mn ơi? Tui đang ăn chay nha, đừng dẫn đi quán nướng 🥩❌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971800"/>
            <a:ext cx="31546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rIns="109728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Bình (10:16 AM)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Tìm quán nào yên tĩnh xíu ngồi học bài nha, có matcha latte càng tốt 🍵📚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703320"/>
            <a:ext cx="31546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rIns="109728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Chi (10:18 AM)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Decor đẹp chụp hình sống ảo xíu nha quý zị, gần Q10 thui đi xa nắng lắm 📸☀️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434840"/>
            <a:ext cx="3154680" cy="65836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rIns="109728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Dũng (10:19 AM)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Cuối tháng kẹt tiền lắm ae, budget &lt; 80k/người thui nhé! 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349240"/>
            <a:ext cx="3154680" cy="914400"/>
          </a:xfrm>
          <a:prstGeom prst="roundRect">
            <a:avLst/>
          </a:prstGeom>
          <a:solidFill>
            <a:srgbClr val="270F14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F43F5E"/>
                </a:solidFill>
              </a:defRPr>
            </a:pPr>
            <a:r>
              <a:t>⚠️ THE GROUP PAIN POINT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Human coordination fails: Conflicting dietary rules, disparate budgets, and location deadlock cause group indecision.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512064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 rIns="201168"/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STEP 2: GEMINI 3.8 FLASH PARSING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Two-Stage Semantic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40280"/>
            <a:ext cx="3108960" cy="1417320"/>
          </a:xfrm>
          <a:prstGeom prst="roundRect">
            <a:avLst/>
          </a:prstGeom>
          <a:solidFill>
            <a:srgbClr val="141E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STAGE 2A: HARD CONSTRAINTS (Zero-Tolerate)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• vegetarianRequired: true (An's health/belief)</a:t>
            </a:r>
            <a:br/>
            <a:r>
              <a:t>• noAlcohol: true (Safe group outing)</a:t>
            </a:r>
            <a:br/>
            <a:r>
              <a:t>• maxPriceVnd: 80,000 VND (Dũng's budget ceiling)</a:t>
            </a:r>
            <a:br/>
            <a:r>
              <a:t>• radiusMeters: &lt;= 3,000m (Weiszfeld circle)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794760"/>
            <a:ext cx="3108960" cy="1417320"/>
          </a:xfrm>
          <a:prstGeom prst="roundRect">
            <a:avLst/>
          </a:prstGeom>
          <a:solidFill>
            <a:srgbClr val="1914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STAGE 2B: WEIGHTED SOFT PREFERENCES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• Matcha Specialty Beverage: Weight 5/5 (Bình)</a:t>
            </a:r>
            <a:br/>
            <a:r>
              <a:t>• Quiet Workspace / Study Vibe: Weight 5/5 (Bình)</a:t>
            </a:r>
            <a:br/>
            <a:r>
              <a:t>• Photogenic / Aesthetic Decor: Weight 4/5 (Chi)</a:t>
            </a:r>
            <a:br/>
            <a:r>
              <a:t>• Spacious Group Seating: Weight 4/5 (Group)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5349240"/>
            <a:ext cx="3108960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🛡️ HUMAN-IN-THE-LOOP SAFEGUARD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Confirmation Experience Modal lets the representative verify, toggle, or edit tags before database execution.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3429000" cy="51206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82880" rIns="201168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STEP 3: ALGORITHMIC FAIRNESS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</a:defRPr>
            </a:pPr>
            <a:r>
              <a:t>The 65/35 Egalitarian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2240280"/>
            <a:ext cx="3108960" cy="1417320"/>
          </a:xfrm>
          <a:prstGeom prst="roundRect">
            <a:avLst/>
          </a:prstGeom>
          <a:solidFill>
            <a:srgbClr val="1E190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📐 CORE FAIRNESS SPECIFICATION</a:t>
            </a:r>
          </a:p>
          <a:p>
            <a:pPr>
              <a:spcAft>
                <a:spcPts val="400"/>
              </a:spcAft>
              <a:defRPr sz="1100" b="1">
                <a:solidFill>
                  <a:srgbClr val="FEF3C7"/>
                </a:solidFill>
              </a:defRPr>
            </a:pPr>
            <a:r>
              <a:t>Group Score = 0.65 × Avg + 0.35 × Min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• 65% Group Average: Satisfies general collective taste.</a:t>
            </a:r>
            <a:br/>
            <a:r>
              <a:t>• 35% Minimum Satisfaction: Protects the most vulnerable member (Anti-Tyranny guarantee!).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3794760"/>
            <a:ext cx="3108960" cy="1417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3B82F6"/>
                </a:solidFill>
              </a:defRPr>
            </a:pPr>
            <a:r>
              <a:t>🗄️ PROVENANCE-BACKED VENUE DATABASE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• 40+ Curated District 10 Venues (Cafes, Milk Tea, Desserts, Malls)</a:t>
            </a:r>
            <a:br/>
            <a:r>
              <a:t>• 50+ Real Reviewer Insights (Google Maps, TikTok KOC, Foody)</a:t>
            </a:r>
            <a:br/>
            <a:r>
              <a:t>• Pre-computed semantic profiles: Noise level, parking, vegetarian viability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5349240"/>
            <a:ext cx="3108960" cy="9144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/>
          <a:lstStyle/>
          <a:p>
            <a:pPr algn="ctr">
              <a:defRPr sz="850" b="1">
                <a:solidFill>
                  <a:srgbClr val="10B981"/>
                </a:solidFill>
              </a:defRPr>
            </a:pPr>
            <a:r>
              <a:t>✅ PREDICTABLE, AUDITABLE DECISION</a:t>
            </a:r>
          </a:p>
          <a:p>
            <a:pPr>
              <a:defRPr sz="800">
                <a:solidFill>
                  <a:srgbClr val="E2E8F0"/>
                </a:solidFill>
              </a:defRPr>
            </a:pPr>
            <a:r>
              <a:t>Returns an instant Top 3 shortlist with transparent reasons &amp; compromises for every individual friend.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61264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365760"/>
            <a:ext cx="1109441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54864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7552" y="54864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7864" y="548640"/>
            <a:ext cx="137160" cy="1371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457200"/>
            <a:ext cx="4389120" cy="31089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0"/>
          <a:lstStyle/>
          <a:p>
            <a:pPr algn="ctr">
              <a:defRPr sz="1000" b="0">
                <a:solidFill>
                  <a:srgbClr val="E2E8F0"/>
                </a:solidFill>
              </a:defRPr>
            </a:pPr>
            <a:r>
              <a:t>🔒 https://gathermap.app/session/EAT-2026/shortlist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38912"/>
            <a:ext cx="5120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100" b="1">
                <a:solidFill>
                  <a:srgbClr val="F59E0B"/>
                </a:solidFill>
              </a:defRPr>
            </a:pPr>
            <a:r>
              <a:t>GATHERMAP • RECOMMENDATION RESULTS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051560"/>
            <a:ext cx="5212080" cy="5257800"/>
          </a:xfrm>
          <a:prstGeom prst="roundRect">
            <a:avLst/>
          </a:prstGeom>
          <a:solidFill>
            <a:srgbClr val="11182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188720"/>
            <a:ext cx="4937760" cy="137160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59436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PHÊ LA — CƯ XÁ BẮC HẢI</a:t>
            </a:r>
          </a:p>
          <a:p>
            <a:pPr>
              <a:defRPr sz="850">
                <a:solidFill>
                  <a:srgbClr val="FEF3C7"/>
                </a:solidFill>
              </a:defRPr>
            </a:pPr>
            <a:r>
              <a:t>Specialty Oolong Tea, Camp Style &amp; Quiet Study Nook  •  45,000 - 75,000 VND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298448"/>
            <a:ext cx="1280160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F172A"/>
                </a:solidFill>
              </a:defRPr>
            </a:pPr>
            <a:r>
              <a:t>🏆 #1 TOP MATCH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1298448"/>
            <a:ext cx="1554480" cy="292608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🟢 OPEN (07:00 - 23:00)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98448"/>
            <a:ext cx="1097280" cy="292608"/>
          </a:xfrm>
          <a:prstGeom prst="roundRect">
            <a:avLst/>
          </a:prstGeom>
          <a:solidFill>
            <a:srgbClr val="0B0F19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</a:defRPr>
            </a:pPr>
            <a:r>
              <a:t>⭐ 92 / 100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651760"/>
            <a:ext cx="4937760" cy="214884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 rIns="164592"/>
          <a:lstStyle/>
          <a:p>
            <a:pPr algn="ctr">
              <a:spcAft>
                <a:spcPts val="400"/>
              </a:spcAft>
              <a:defRPr sz="850" b="1">
                <a:solidFill>
                  <a:srgbClr val="E2E8F0"/>
                </a:solidFill>
              </a:defRPr>
            </a:pPr>
            <a:r>
              <a:t>📍 125 Cư Xá Bắc Hải, Phường 15, Quận 10  (1.1 km from Weiszfeld center ~ 4 mins)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017520"/>
            <a:ext cx="4663440" cy="868680"/>
          </a:xfrm>
          <a:prstGeom prst="roundRect">
            <a:avLst/>
          </a:prstGeom>
          <a:solidFill>
            <a:srgbClr val="19142D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54864" rIns="109728"/>
          <a:lstStyle/>
          <a:p>
            <a:pPr algn="ctr">
              <a:defRPr sz="850" b="1">
                <a:solidFill>
                  <a:srgbClr val="A855F7"/>
                </a:solidFill>
              </a:defRPr>
            </a:pPr>
            <a:r>
              <a:t>✨ GEMINI AI CONCIERGE RATIONALE:</a:t>
            </a:r>
          </a:p>
          <a:p>
            <a:pPr>
              <a:defRPr sz="800" i="1">
                <a:solidFill>
                  <a:srgbClr val="E0E7FF"/>
                </a:solidFill>
              </a:defRPr>
            </a:pPr>
            <a:r>
              <a:t>"Perfect harmony: Features Oolong Matcha Latte satisfying Bình (96%), pure plant-based tea drinks meeting An's vegan rule (90%), trendy aesthetic camp seating for Chi (88%), and drinks priced 55k-65k well within Dũng's 80k budget (94%)."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931920"/>
            <a:ext cx="4663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94A3B8"/>
                </a:solidFill>
              </a:defRPr>
            </a:pPr>
            <a:r>
              <a:t>INDIVIDUAL MEMBER SATISFACTION BREAKDOWN: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206240"/>
            <a:ext cx="10972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90%</a:t>
            </a:r>
          </a:p>
          <a:p>
            <a:pPr algn="ctr">
              <a:defRPr sz="650">
                <a:solidFill>
                  <a:srgbClr val="E2E8F0"/>
                </a:solidFill>
              </a:defRPr>
            </a:pPr>
            <a:r>
              <a:t>An (Vegan)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4206240"/>
            <a:ext cx="10972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96%</a:t>
            </a:r>
          </a:p>
          <a:p>
            <a:pPr algn="ctr">
              <a:defRPr sz="650">
                <a:solidFill>
                  <a:srgbClr val="E2E8F0"/>
                </a:solidFill>
              </a:defRPr>
            </a:pPr>
            <a:r>
              <a:t>Bình (Quiet/Matcha)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206240"/>
            <a:ext cx="10972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88%</a:t>
            </a:r>
          </a:p>
          <a:p>
            <a:pPr algn="ctr">
              <a:defRPr sz="650">
                <a:solidFill>
                  <a:srgbClr val="E2E8F0"/>
                </a:solidFill>
              </a:defRPr>
            </a:pPr>
            <a:r>
              <a:t>Chi (Aesthetic)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4206240"/>
            <a:ext cx="1097280" cy="4754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tIns="36576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94%</a:t>
            </a:r>
          </a:p>
          <a:p>
            <a:pPr algn="ctr">
              <a:defRPr sz="650">
                <a:solidFill>
                  <a:srgbClr val="E2E8F0"/>
                </a:solidFill>
              </a:defRPr>
            </a:pPr>
            <a:r>
              <a:t>Dũng (Budget &lt;80k)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864608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F59E0B"/>
                </a:solidFill>
              </a:defRPr>
            </a:pPr>
            <a:r>
              <a:t>INTERACTIVE BOTTOM ACTION PILLS (From Your Layout Sketch):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5138928"/>
            <a:ext cx="1508760" cy="102412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3B82F6"/>
                </a:solidFill>
              </a:defRPr>
            </a:pPr>
            <a:r>
              <a:t>💬 USER REVIEWS</a:t>
            </a:r>
          </a:p>
          <a:p>
            <a:pPr>
              <a:defRPr sz="700">
                <a:solidFill>
                  <a:srgbClr val="E2E8F0"/>
                </a:solidFill>
              </a:defRPr>
            </a:pPr>
            <a:r>
              <a:t>⭐ 4.6 (120+ verified)</a:t>
            </a:r>
            <a:br/>
            <a:r>
              <a:t>• TikTok: Chill vibe</a:t>
            </a:r>
            <a:br/>
            <a:r>
              <a:t>• Google: Easy parking</a:t>
            </a:r>
            <a:br/>
            <a:r>
              <a:t>• Foody: Good tea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5138928"/>
            <a:ext cx="1417320" cy="102412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F59E0B"/>
                </a:solidFill>
              </a:defRPr>
            </a:pPr>
            <a:r>
              <a:t>🏷️ MENU &amp; PRICES</a:t>
            </a:r>
          </a:p>
          <a:p>
            <a:pPr>
              <a:defRPr sz="700">
                <a:solidFill>
                  <a:srgbClr val="E2E8F0"/>
                </a:solidFill>
              </a:defRPr>
            </a:pPr>
            <a:r>
              <a:t>45k - 75k VND</a:t>
            </a:r>
            <a:br/>
            <a:r>
              <a:t>• Ô long Khói (55k)</a:t>
            </a:r>
            <a:br/>
            <a:r>
              <a:t>• Matcha Latte (65k)</a:t>
            </a:r>
            <a:br/>
            <a:r>
              <a:t>• Bánh ngọt (35k)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5138928"/>
            <a:ext cx="1828800" cy="1024128"/>
          </a:xfrm>
          <a:prstGeom prst="roundRect">
            <a:avLst/>
          </a:prstGeom>
          <a:solidFill>
            <a:srgbClr val="064E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54864"/>
          <a:lstStyle/>
          <a:p>
            <a:pPr algn="ctr">
              <a:defRPr sz="800" b="1">
                <a:solidFill>
                  <a:srgbClr val="10B981"/>
                </a:solidFill>
              </a:defRPr>
            </a:pPr>
            <a:r>
              <a:t>🧭 1-CLICK NAVIGATION</a:t>
            </a:r>
          </a:p>
          <a:p>
            <a:pPr>
              <a:defRPr sz="700">
                <a:solidFill>
                  <a:srgbClr val="E2E8F0"/>
                </a:solidFill>
              </a:defRPr>
            </a:pPr>
            <a:r>
              <a:t>🗳️ Vote: 3/4 Approved!</a:t>
            </a:r>
            <a:br/>
            <a:r>
              <a:t>➔ Launch Google Maps</a:t>
            </a:r>
            <a:br/>
            <a:r>
              <a:t>Direct Turn-by-Turn GPS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51560"/>
            <a:ext cx="5120640" cy="2651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🗺️ LIVE ROUTE CONVERGENCE &amp; TRAVEL TIMES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All member routes converge onto Phê La (125 Cư Xá Bắc Hải):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1691640"/>
            <a:ext cx="4754880" cy="384048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850">
                <a:solidFill>
                  <a:srgbClr val="3B82F6"/>
                </a:solidFill>
              </a:rPr>
              <a:t>An from Landmark 81: </a:t>
            </a:r>
            <a:r>
              <a:rPr sz="800">
                <a:solidFill>
                  <a:srgbClr val="E2E8F0"/>
                </a:solidFill>
              </a:rPr>
              <a:t>3.9 km  (~12 mins via Điện Biên Phủ / CMT8)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2130552"/>
            <a:ext cx="4754880" cy="384048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850">
                <a:solidFill>
                  <a:srgbClr val="10B981"/>
                </a:solidFill>
              </a:rPr>
              <a:t>Bình from UEH Campus B: </a:t>
            </a:r>
            <a:r>
              <a:rPr sz="800">
                <a:solidFill>
                  <a:srgbClr val="E2E8F0"/>
                </a:solidFill>
              </a:rPr>
              <a:t>1.1 km  (~4 mins via Nguyễn Tri Phương)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2569464"/>
            <a:ext cx="4754880" cy="384048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850">
                <a:solidFill>
                  <a:srgbClr val="A855F7"/>
                </a:solidFill>
              </a:rPr>
              <a:t>Chi from Hồ Con Rùa: </a:t>
            </a:r>
            <a:r>
              <a:rPr sz="800">
                <a:solidFill>
                  <a:srgbClr val="E2E8F0"/>
                </a:solidFill>
              </a:rPr>
              <a:t>2.2 km  (~7 mins via 3 Tháng 2)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008376"/>
            <a:ext cx="4754880" cy="384048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/>
            <a:r>
              <a:rPr b="1" sz="850">
                <a:solidFill>
                  <a:srgbClr val="F59E0B"/>
                </a:solidFill>
              </a:rPr>
              <a:t>Dũng from Vạn Hạnh Mall: </a:t>
            </a:r>
            <a:r>
              <a:rPr sz="800">
                <a:solidFill>
                  <a:srgbClr val="E2E8F0"/>
                </a:solidFill>
              </a:rPr>
              <a:t>1.3 km  (~4 mins via Sư Vạn Hạnh)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840480"/>
            <a:ext cx="5120640" cy="246888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09728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🥈 RUNNER-UP ALTERNATIVE RECOMMENDATIONS</a:t>
            </a:r>
          </a:p>
          <a:p>
            <a:pPr>
              <a:defRPr sz="800">
                <a:solidFill>
                  <a:srgbClr val="94A3B8"/>
                </a:solidFill>
              </a:defRPr>
            </a:pPr>
            <a:r>
              <a:t>Transparent comparison allows quick group voting switch if desired: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434840"/>
            <a:ext cx="4754880" cy="7315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/>
            <a:r>
              <a:rPr b="1" sz="900">
                <a:solidFill>
                  <a:srgbClr val="FFFFFF"/>
                </a:solidFill>
              </a:rPr>
              <a:t>#2 Dallas Cakes &amp; Cafe  </a:t>
            </a:r>
            <a:r>
              <a:rPr sz="850">
                <a:solidFill>
                  <a:srgbClr val="F59E0B"/>
                </a:solidFill>
              </a:rPr>
              <a:t>(Score: 86/100 • 1.4 km)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Compromise: Great desserts (An &amp; Chi), slightly pricier (70k-85k)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5257800"/>
            <a:ext cx="4754880" cy="731520"/>
          </a:xfrm>
          <a:prstGeom prst="roundRect">
            <a:avLst/>
          </a:prstGeom>
          <a:solidFill>
            <a:srgbClr val="1A2234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/>
            <a:r>
              <a:rPr b="1" sz="900">
                <a:solidFill>
                  <a:srgbClr val="FFFFFF"/>
                </a:solidFill>
              </a:rPr>
              <a:t>#3 Chidori Coffee in Bed  </a:t>
            </a:r>
            <a:r>
              <a:rPr sz="850">
                <a:solidFill>
                  <a:srgbClr val="F59E0B"/>
                </a:solidFill>
              </a:rPr>
              <a:t>(Score: 84/100 • 1.8 km)</a:t>
            </a:r>
          </a:p>
          <a:p>
            <a:pPr>
              <a:defRPr sz="750">
                <a:solidFill>
                  <a:srgbClr val="94A3B8"/>
                </a:solidFill>
              </a:defRPr>
            </a:pPr>
            <a:r>
              <a:t>Compromise: Ultra quiet study pods (Bình 98%), but booking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